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Layupan opens the presentation and introduces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Layupan explains the practical problem and why a controlled system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Layupan connects these objectives to the modules that will be shown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Layupan explains that access is enforced on the server, not just hidden in navigation.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Layupan transitions to Wariza. Use this slide to explain the system at a high level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Wariza explains Plywood versus G.I. Pipe. This sets up procurement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Wariza should be precise: Plywood is the uncovered low-stock example. The PO evidence is for G.I. Pipe.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Wariza uses this as a bridge from PO records to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Largo should use existing records rather than creating a new sale. Explain that opening cash is not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Largo explains that the status is now Voided, but the original sale evidence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Amores should sign in as Staff during the live demo and show the role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Casipong summarizes reports and management controls. Keep this concise before testing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Casipong should keep testing evidence concise. Do not invent a grand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Casipong closes and invites questions. Wariza supports deeper cross-module technical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pic>
        <p:nvPicPr>
          <p:cNvPr id="4" name="Image 0" descr="/mnt/data/trackpro_assets/3A TrackPro Brand Guide and UI 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098240"/>
            <a:ext cx="4617720" cy="15642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0424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3A TrackPro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76656" y="1719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CBD5E1"/>
                </a:solidFill>
              </a:rPr>
              <a:t>Hardware Store Sales and Inventory Management System</a:t>
            </a:r>
            <a:endParaRPr lang="en-US" sz="1640" dirty="0"/>
          </a:p>
        </p:txBody>
      </p:sp>
      <p:sp>
        <p:nvSpPr>
          <p:cNvPr id="7" name="Shape 4"/>
          <p:cNvSpPr/>
          <p:nvPr/>
        </p:nvSpPr>
        <p:spPr>
          <a:xfrm>
            <a:off x="676656" y="2322576"/>
            <a:ext cx="10058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" y="267004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Track Today.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Build Tomorrow.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94944" y="4160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Final presentation deck • The Visionaries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4944" y="44988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94A3B8"/>
                </a:solidFill>
              </a:rPr>
              <a:t>Layupan · Wariza · Largo · Amores · Casipong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94944" y="5029200"/>
            <a:ext cx="2057400" cy="310896"/>
          </a:xfrm>
          <a:prstGeom prst="roundRect">
            <a:avLst>
              <a:gd name="adj" fmla="val 29412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5116068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97316"/>
                </a:solidFill>
              </a:rPr>
              <a:t>Feature-frozen release candidate</a:t>
            </a:r>
            <a:endParaRPr lang="en-US" sz="7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Purpose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Layupan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51560"/>
            <a:ext cx="5394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inventory needs traceability, not scattered notes.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58368" y="2185416"/>
            <a:ext cx="5166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TrackPro connects stock, purchases, sales, damage evidence, and reports in one role-controlled system.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1078992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10" name="Image 0" descr="/mnt/data/image(2).png">    </p:cNvPr>
          <p:cNvPicPr>
            <a:picLocks noChangeAspect="1"/>
          </p:cNvPicPr>
          <p:nvPr/>
        </p:nvPicPr>
        <p:blipFill>
          <a:blip r:embed="rId1"/>
          <a:srcRect l="12000" r="-154" t="0" b="12000"/>
          <a:stretch/>
        </p:blipFill>
        <p:spPr>
          <a:xfrm>
            <a:off x="6483096" y="1115568"/>
            <a:ext cx="5001768" cy="2807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886200"/>
            <a:ext cx="507492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334155"/>
                </a:solidFill>
              </a:rPr>
              <a:t>Manual tracking makes stock levels and purchase needs hard to verify.
</a:t>
            </a:r>
            <a:pPr indent="0" marL="0">
              <a:buNone/>
            </a:pPr>
            <a:r>
              <a:rPr lang="en-US" sz="136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334155"/>
                </a:solidFill>
              </a:rPr>
              <a:t>Cash sales need receipts, register context, and preserved history.
</a:t>
            </a:r>
            <a:pPr indent="0" marL="0">
              <a:buNone/>
            </a:pPr>
            <a:r>
              <a:rPr lang="en-US" sz="136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334155"/>
                </a:solidFill>
              </a:rPr>
              <a:t>Receiving must separate accepted stock from damaged evidence.
</a:t>
            </a:r>
            <a:pPr indent="0" marL="0">
              <a:buNone/>
            </a:pPr>
            <a:r>
              <a:rPr lang="en-US" sz="136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60" dirty="0">
                <a:solidFill>
                  <a:srgbClr val="334155"/>
                </a:solidFill>
              </a:rPr>
              <a:t>Admins need reports; Staff need safe daily operations.
</a:t>
            </a:r>
            <a:endParaRPr lang="en-US" sz="1360" dirty="0"/>
          </a:p>
        </p:txBody>
      </p:sp>
      <p:sp>
        <p:nvSpPr>
          <p:cNvPr id="12" name="Shape 9"/>
          <p:cNvSpPr/>
          <p:nvPr/>
        </p:nvSpPr>
        <p:spPr>
          <a:xfrm>
            <a:off x="6446520" y="4187952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4536" y="4279392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74536" y="4599432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roles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8046720" y="4187952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4736" y="4279392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74736" y="4599432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movement types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9646920" y="4187952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74936" y="4279392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74936" y="4599432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reports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455664" y="51572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i="1" dirty="0">
                <a:solidFill>
                  <a:srgbClr val="64748B"/>
                </a:solidFill>
              </a:rPr>
              <a:t>Audience cue: show the real login screen, not a mockup.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Layupan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607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The system was built around four goals.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489204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9659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0B1220"/>
                </a:solidFill>
              </a:rPr>
              <a:t>Track inventory per Variant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1554480" y="23134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Stock, unit, threshold, and movement history stay at Variant level.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36208" y="1783080"/>
            <a:ext cx="4892040" cy="1225296"/>
          </a:xfrm>
          <a:prstGeom prst="roundRect">
            <a:avLst>
              <a:gd name="adj" fmla="val 8955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9659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0B1220"/>
                </a:solidFill>
              </a:rPr>
              <a:t>Support cash POS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7040880" y="23134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Register state, receipt, Sales History, and stock deduction stay consistent.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9808" y="3447288"/>
            <a:ext cx="489204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30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630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0B1220"/>
                </a:solidFill>
              </a:rPr>
              <a:t>Manage procurement evidence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1554480" y="39776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Low-stock demand, POs, receiving, damage, and follow-up POs remain traceable.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236208" y="3447288"/>
            <a:ext cx="4892040" cy="1225296"/>
          </a:xfrm>
          <a:prstGeom prst="roundRect">
            <a:avLst>
              <a:gd name="adj" fmla="val 8955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6301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630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0B1220"/>
                </a:solidFill>
              </a:rPr>
              <a:t>Protect roles and history</a:t>
            </a:r>
            <a:endParaRPr lang="en-US" sz="1470" dirty="0"/>
          </a:p>
        </p:txBody>
      </p:sp>
      <p:sp>
        <p:nvSpPr>
          <p:cNvPr id="23" name="Text 21"/>
          <p:cNvSpPr/>
          <p:nvPr/>
        </p:nvSpPr>
        <p:spPr>
          <a:xfrm>
            <a:off x="7040880" y="39776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Admin/Staff boundaries, Audit Logs, and immutable evidence support accountability.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77240" y="5303520"/>
            <a:ext cx="10625328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25" name="Image 0" descr="/mnt/data/trackpro_assets/3A TrackPro Brand Identity Sheet.png">    </p:cNvPr>
          <p:cNvPicPr>
            <a:picLocks noChangeAspect="1"/>
          </p:cNvPicPr>
          <p:nvPr/>
        </p:nvPicPr>
        <p:blipFill>
          <a:blip r:embed="rId1"/>
          <a:srcRect l="0" r="-117151" t="63000" b="2000"/>
          <a:stretch/>
        </p:blipFill>
        <p:spPr>
          <a:xfrm>
            <a:off x="813816" y="5340096"/>
            <a:ext cx="10552176" cy="5669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 &amp; Role Boundaries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Layupan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607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Two roles keep daily work simple and sensitive actions protected.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9808" y="1737360"/>
            <a:ext cx="50292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2512" y="1737360"/>
            <a:ext cx="50292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7316"/>
                </a:solidFill>
              </a:rPr>
              <a:t>Admin / Owner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2414016"/>
            <a:ext cx="41605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Catalog and user management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Purchase Orders and follow-ups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Reports and Audit Logs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Full Sale Void with evidence
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62940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Staff / Cashier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2414016"/>
            <a:ext cx="41605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POS and Sales History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Stock In and PO receiving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Movement History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Daily dashboard views
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3520440" y="5358384"/>
            <a:ext cx="5138928" cy="310896"/>
          </a:xfrm>
          <a:prstGeom prst="roundRect">
            <a:avLst>
              <a:gd name="adj" fmla="val 29412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5445252"/>
            <a:ext cx="499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97316"/>
                </a:solidFill>
              </a:rPr>
              <a:t>Server-side authorization is the security boundary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Layupan → Wariza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A browser-based Laravel system centered on inventory evidence.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29968" y="2779776"/>
            <a:ext cx="1243584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1728" y="2779776"/>
            <a:ext cx="1243584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33488" y="2779776"/>
            <a:ext cx="1243584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286000"/>
            <a:ext cx="15727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23160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963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89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Browser UI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(Admin / Staff)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154680" y="2286000"/>
            <a:ext cx="1737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42316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4963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03320" y="2432304"/>
            <a:ext cx="1060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Laravel app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Auth + rules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760720" y="2286000"/>
            <a:ext cx="1847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242316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4963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09360" y="2432304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MySQL data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ledger evidence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366760" y="2286000"/>
            <a:ext cx="224028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4231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24963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15400" y="2432304"/>
            <a:ext cx="1563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Reports &amp;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traceable evidence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49808" y="388620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1148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Built for local demonstration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4988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PHP/Laravel + MySQL + browser UI; prepared data stored in trackpro_demo.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4434840" y="388620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1148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Evidence-first workflow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45152" y="44988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Movements, reports, receipts, and Audit Logs preserve what happened.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119872" y="388620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41148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Feature-frozen scope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30184" y="44988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Core functions are complete; remaining work is demo, rehearsal, and presentation.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&amp; Low-Stock Story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Wariza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24128"/>
            <a:ext cx="5394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stock does not always mean “create another PO.”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58368" y="2157984"/>
            <a:ext cx="51663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TrackPro separates current stock, thresholds, and open procurement coverage.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078992"/>
            <a:ext cx="498348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3258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Prepared demo evidence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1783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Plywood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7830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 / 5 sheets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46920" y="173736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18242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DC2626"/>
                </a:solidFill>
              </a:rPr>
              <a:t>LOW · UNCOVERED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6720840" y="2423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G.I. Pipe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4.500 / 5.000 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920" y="237744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FFF7ED"/>
          </a:solidFill>
          <a:ln w="12700">
            <a:solidFill>
              <a:srgbClr val="FFF7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246430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97316"/>
                </a:solidFill>
              </a:rPr>
              <a:t>LOW · COVERED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6720840" y="3063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Common Nail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30632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15 / 4 kg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46920" y="301752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310438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6A34A"/>
                </a:solidFill>
              </a:rPr>
              <a:t>HEALTHY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6720840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Claw Hammer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37033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9 / 3 pieces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46920" y="365760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0072" y="374446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6A34A"/>
                </a:solidFill>
              </a:rPr>
              <a:t>HEALTHY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50292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Variant-level stock keeps units separate.
</a:t>
            </a:r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Thresholds identify demand.
</a:t>
            </a:r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Open POs explain whether that demand is already covered.
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 Order / Receiving / Follow-up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Wariza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2412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Procurement keeps demand, receiving, damage, and follow-up lineage connected.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74520" y="2359152"/>
            <a:ext cx="8686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2359152"/>
            <a:ext cx="8686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12280" y="2359152"/>
            <a:ext cx="8686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874520"/>
            <a:ext cx="15087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011680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08483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2020824"/>
            <a:ext cx="83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Low-stock demand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G.I. Pipe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2743200" y="187452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201168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08483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2020824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Parent PO #1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10.000 m ordered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212080" y="187452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201168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08483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60720" y="2020824"/>
            <a:ext cx="1106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Receiving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3.000 accepted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2.000 damaged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680960" y="187452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01168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08483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2020824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Follow-up PO #2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7.000 m outstanding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77240" y="3657600"/>
            <a:ext cx="4892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8953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B1220"/>
                </a:solidFill>
              </a:rPr>
              <a:t>Important distinction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1005840" y="42793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Plywood stays low and uncovered; G.I. Pipe is low but already covered by open procurement. They demonstrate different decisions.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035040" y="3657600"/>
            <a:ext cx="4892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89534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B1220"/>
                </a:solidFill>
              </a:rPr>
              <a:t>Teacher-scope evidence</a:t>
            </a:r>
            <a:endParaRPr lang="en-US" sz="1580" dirty="0"/>
          </a:p>
        </p:txBody>
      </p:sp>
      <p:sp>
        <p:nvSpPr>
          <p:cNvPr id="32" name="Text 30"/>
          <p:cNvSpPr/>
          <p:nvPr/>
        </p:nvSpPr>
        <p:spPr>
          <a:xfrm>
            <a:off x="6263640" y="42793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</a:rPr>
              <a:t>Partial receiving, damage-only evidence, transferred demand, and follow-up lineage are shown from prepared records.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Damage Evidence &amp; Procurement Reports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Wariza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05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Accepted stock and damaged items are recorded separately.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</a:rPr>
              <a:t>Accepted receiving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32688" y="21854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Increases sellable stock and creates Stock In evidence.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309360" y="1664208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97316"/>
                </a:solidFill>
              </a:rPr>
              <a:t>Damage-only receipt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510528" y="21854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Keeps damage evidence without increasing sellable stock.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31520" y="3081528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644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</a:rPr>
              <a:t>Pending PO Report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932688" y="360273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Shows open procurement demand and supplier context.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309360" y="3081528"/>
            <a:ext cx="5074920" cy="1078992"/>
          </a:xfrm>
          <a:prstGeom prst="roundRect">
            <a:avLst>
              <a:gd name="adj" fmla="val 10169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2644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97316"/>
                </a:solidFill>
              </a:rPr>
              <a:t>Damaged Items Report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510528" y="360273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Preserves damaged quantity, note, PO and receipt context.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68680" y="4773168"/>
            <a:ext cx="1042416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21" name="Image 0" descr="/mnt/data/image(6).png">    </p:cNvPr>
          <p:cNvPicPr>
            <a:picLocks noChangeAspect="1"/>
          </p:cNvPicPr>
          <p:nvPr/>
        </p:nvPicPr>
        <p:blipFill>
          <a:blip r:embed="rId1"/>
          <a:srcRect l="0" r="-97516" t="12000" b="52000"/>
          <a:stretch/>
        </p:blipFill>
        <p:spPr>
          <a:xfrm>
            <a:off x="905256" y="4809744"/>
            <a:ext cx="10351008" cy="10607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POS, Opening Cash &amp; Completed Sale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Largo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46634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8" name="Image 0" descr="/mnt/data/image(5).png">    </p:cNvPr>
          <p:cNvPicPr>
            <a:picLocks noChangeAspect="1"/>
          </p:cNvPicPr>
          <p:nvPr/>
        </p:nvPicPr>
        <p:blipFill>
          <a:blip r:embed="rId1"/>
          <a:srcRect l="17000" r="25575" t="0" b="6000"/>
          <a:stretch/>
        </p:blipFill>
        <p:spPr>
          <a:xfrm>
            <a:off x="676656" y="1133856"/>
            <a:ext cx="4590288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11155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POS flow preserves cash context and stock movement.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1755648"/>
            <a:ext cx="507492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Opening cash is register state — not sales revenue.
</a:t>
            </a:r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Prepared demo state: register is Closed.
</a:t>
            </a:r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TRX-000001 is the completed ₱500.00 demo sale.
</a:t>
            </a:r>
            <a:pPr indent="0" marL="0">
              <a:buNone/>
            </a:pPr>
            <a:r>
              <a:rPr lang="en-US" sz="134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Insufficient-stock checkout rejects the sale and deducts no stock.
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5852160" y="4251960"/>
            <a:ext cx="1508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0176" y="43434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₱500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80176" y="466344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completed sale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571232" y="4251960"/>
            <a:ext cx="1508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99248" y="43434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99248" y="466344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extra live sales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290304" y="4251960"/>
            <a:ext cx="15087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0" y="434340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Closed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418320" y="466344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register state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 Void &amp; Transaction History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Largo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241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A voided sale remains visible; the system records the restoration.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74520" y="2377440"/>
            <a:ext cx="10058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2377440"/>
            <a:ext cx="10058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12280" y="2377440"/>
            <a:ext cx="10058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057400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3055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2066544"/>
            <a:ext cx="87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TRX-000002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originally completed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292608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2057400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13055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0" y="2066544"/>
            <a:ext cx="87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Admin void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reason required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166360" y="1920240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05740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13055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15000" y="2066544"/>
            <a:ext cx="877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Stock restored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movement written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406640" y="1920240"/>
            <a:ext cx="1737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05740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213055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55280" y="2066544"/>
            <a:ext cx="1060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History retained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0B1220"/>
                </a:solidFill>
              </a:rPr>
              <a:t>no repeat void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804672" y="3657600"/>
            <a:ext cx="48463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8953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B1220"/>
                </a:solidFill>
              </a:rPr>
              <a:t>Demo reason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1051560" y="43159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i="1" dirty="0">
                <a:solidFill>
                  <a:srgbClr val="334155"/>
                </a:solidFill>
              </a:rPr>
              <a:t>“Transaction entered twice during demonstration.”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5989320" y="3657600"/>
            <a:ext cx="48463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8953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0B1220"/>
                </a:solidFill>
              </a:rPr>
              <a:t>Presenter cue</a:t>
            </a:r>
            <a:endParaRPr lang="en-US" sz="1580" dirty="0"/>
          </a:p>
        </p:txBody>
      </p:sp>
      <p:sp>
        <p:nvSpPr>
          <p:cNvPr id="32" name="Text 30"/>
          <p:cNvSpPr/>
          <p:nvPr/>
        </p:nvSpPr>
        <p:spPr>
          <a:xfrm>
            <a:off x="6236208" y="4315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Do not perform another live void; show the prepared voided record and explain preserved evidence.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 Daily Operations &amp; Movement History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Amores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Staff sees daily tools without Admin-only controls.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498348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7452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</a:rPr>
              <a:t>Staff Dashboard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32688" y="21945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Recent activity and daily context.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4983480" cy="969264"/>
          </a:xfrm>
          <a:prstGeom prst="roundRect">
            <a:avLst>
              <a:gd name="adj" fmla="val 1132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7452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97316"/>
                </a:solidFill>
              </a:rPr>
              <a:t>Stock In form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464808" y="21945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Record non-PO stock entries through controlled forms.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498348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0040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B1220"/>
                </a:solidFill>
              </a:rPr>
              <a:t>PO receiving access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932688" y="35204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Staff can receive against POs where allowed.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4983480" cy="969264"/>
          </a:xfrm>
          <a:prstGeom prst="roundRect">
            <a:avLst>
              <a:gd name="adj" fmla="val 1132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20040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97316"/>
                </a:solidFill>
              </a:rPr>
              <a:t>Movement History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64808" y="35204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Opening Inventory, Stock In, Sale, Correction, and Sale Void.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960120" y="4800600"/>
            <a:ext cx="10149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5047488"/>
            <a:ext cx="964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1220"/>
                </a:solidFill>
              </a:rPr>
              <a:t>Role story: Staff can perform daily operations, but Admin-only navigation and controls remain absent.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&amp; Management Controls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Casipong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8" name="Image 0" descr="/mnt/data/image(6).png">    </p:cNvPr>
          <p:cNvPicPr>
            <a:picLocks noChangeAspect="1"/>
          </p:cNvPicPr>
          <p:nvPr/>
        </p:nvPicPr>
        <p:blipFill>
          <a:blip r:embed="rId1"/>
          <a:srcRect l="0" r="35070" t="0" b="0"/>
          <a:stretch/>
        </p:blipFill>
        <p:spPr>
          <a:xfrm>
            <a:off x="676656" y="1133856"/>
            <a:ext cx="4773168" cy="4133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1078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Reports organize evidence for decisions and defense.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97880" y="1783080"/>
            <a:ext cx="50292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Sales: summary, Product Sales, completed-sale totals.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Inventory: current stock, Low Stock, Movement History.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Procurement: Pending PO, Unfulfilled Items, Damaged Items, Restocking.
</a:t>
            </a:r>
            <a:pPr indent="0" marL="0">
              <a:buNone/>
            </a:pPr>
            <a:r>
              <a:rPr lang="en-US" sz="132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Control: User Management and Audit Logs support accountability.
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5989320" y="4315968"/>
            <a:ext cx="1463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17336" y="44074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17336" y="47274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report pages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726680" y="4315968"/>
            <a:ext cx="1463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54696" y="44074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Admin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54696" y="47274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report access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464040" y="4315968"/>
            <a:ext cx="1463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92056" y="440740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Read-only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592056" y="47274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evidence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926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Quality Evidence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006840" y="246888"/>
            <a:ext cx="26974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3566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97316"/>
                </a:solidFill>
              </a:rPr>
              <a:t>Casipong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2412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Quality evidence is reported without combining unrelated totals.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4983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5623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FT18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67712" y="185623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0B1220"/>
                </a:solidFill>
              </a:rPr>
              <a:t>19 / 19 Pass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932688" y="222199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current-scope browser validation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4983480" cy="1051560"/>
          </a:xfrm>
          <a:prstGeom prst="roundRect">
            <a:avLst>
              <a:gd name="adj" fmla="val 10435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85623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SQLite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54112" y="185623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0B1220"/>
                </a:solidFill>
              </a:rPr>
              <a:t>558 tests / 6,112 assertions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6419088" y="222199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ordinary full suite evidence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4983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1927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PO edit race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67712" y="331927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0B1220"/>
                </a:solidFill>
              </a:rPr>
              <a:t>3 / 3 focused repeats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932688" y="368503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same-revision guarded MySQL verification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4983480" cy="1051560"/>
          </a:xfrm>
          <a:prstGeom prst="roundRect">
            <a:avLst>
              <a:gd name="adj" fmla="val 10435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31927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Reports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54112" y="331927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0B1220"/>
                </a:solidFill>
              </a:rPr>
              <a:t>52 tests / 752 assertions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6419088" y="368503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</a:rPr>
              <a:t>polish + build + browser visual check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04672" y="516636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Historical FT17 evidence remains preserved separately; current-scope FT18 closed 19/19.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Scope &amp; Live Demo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Core features are feature-frozen. The live demo shows prepared evidence first, with role-based handoffs.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1723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037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Layupan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29968" y="220370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Opening / overview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90488" y="205740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037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Wariza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70648" y="220370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Inventory &amp; procurement + Q&amp;A backup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88036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1723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266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Largo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29968" y="302666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POS / Sales / Sale Void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90488" y="288036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0266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Amores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70648" y="302666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Staff workflow / Movement History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49808" y="3703320"/>
            <a:ext cx="4892040" cy="566928"/>
          </a:xfrm>
          <a:prstGeom prst="roundRect">
            <a:avLst>
              <a:gd name="adj" fmla="val 19355"/>
            </a:avLst>
          </a:prstGeom>
          <a:solidFill>
            <a:srgbClr val="1723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496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Casipong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29968" y="384962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</a:rPr>
              <a:t>Reports / testing / closing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4937760"/>
            <a:ext cx="106527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25780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BD5E1"/>
                </a:solidFill>
              </a:rPr>
              <a:t>Presentation allowance communicated to the group: no fixed cutoff; explain the system fully.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04672" y="5687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Next: live demo and questions.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3A TrackPro  •  The Visionaries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018520" y="64556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The Visionaries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3A TrackPro Final Presentation Deck</dc:title>
  <dc:subject>3A TrackPro Final Presentation</dc:subject>
  <dc:creator>OpenAI</dc:creator>
  <cp:lastModifiedBy>OpenAI</cp:lastModifiedBy>
  <cp:revision>1</cp:revision>
  <dcterms:created xsi:type="dcterms:W3CDTF">2026-09-30T19:23:31Z</dcterms:created>
  <dcterms:modified xsi:type="dcterms:W3CDTF">2026-09-30T19:23:31Z</dcterms:modified>
</cp:coreProperties>
</file>